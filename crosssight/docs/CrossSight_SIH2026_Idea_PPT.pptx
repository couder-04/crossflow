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34"/>
    <p:restoredTop sz="94631"/>
  </p:normalViewPr>
  <p:slideViewPr>
    <p:cSldViewPr snapToGrid="0" snapToObjects="1">
      <p:cViewPr>
        <p:scale>
          <a:sx n="120" d="100"/>
          <a:sy n="120" d="100"/>
        </p:scale>
        <p:origin x="936" y="2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osssight.vercel.app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openalpr/benchmarks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github.com/ankandrew/fast-plate-ocr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ankandrew/fast-alpr" TargetMode="External"/><Relationship Id="rId5" Type="http://schemas.openxmlformats.org/officeDocument/2006/relationships/hyperlink" Target="https://github.com/Ajitesh-07/PlateOCR/blob/main/RESEARCH.md" TargetMode="External"/><Relationship Id="rId4" Type="http://schemas.openxmlformats.org/officeDocument/2006/relationships/hyperlink" Target="https://github.com/Ajitesh-07/PlateOC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CrossSight: City-wide ANPR Intelligence Platform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5042" y="1524914"/>
            <a:ext cx="5924550" cy="5198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SH26127</a:t>
            </a:r>
            <a:endParaRPr lang="en-US" sz="2000" b="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IN" sz="2000" dirty="0"/>
              <a:t>City-Wide AI Engine for Multi-Camera ANPR Trajectory Tracking and Urban Traffic Analytics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 – </a:t>
            </a:r>
            <a:r>
              <a:rPr lang="en-IN" sz="2000" dirty="0"/>
              <a:t>Smart Automation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 – </a:t>
            </a:r>
            <a:r>
              <a:rPr lang="en-US" sz="2000" b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[enter Team ID]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CrossSight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Live demo – </a:t>
            </a:r>
            <a:r>
              <a:rPr lang="en-US" sz="2000" u="sng" dirty="0">
                <a:solidFill>
                  <a:srgbClr val="0563C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https://crosssight.vercel.app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CrossSight – City-wide ANPR Intelligence Platform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90995" y="167833"/>
            <a:ext cx="169041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CrossSight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01" name="Heading 101"/>
          <p:cNvSpPr txBox="1"/>
          <p:nvPr/>
        </p:nvSpPr>
        <p:spPr>
          <a:xfrm>
            <a:off x="457200" y="1180000"/>
            <a:ext cx="6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tx2"/>
                </a:solidFill>
                <a:latin typeface="Arial"/>
                <a:cs typeface="Arial"/>
              </a:rPr>
              <a:t>Proposed Solution</a:t>
            </a:r>
          </a:p>
        </p:txBody>
      </p:sp>
      <p:sp>
        <p:nvSpPr>
          <p:cNvPr id="102" name="Card 102"/>
          <p:cNvSpPr/>
          <p:nvPr/>
        </p:nvSpPr>
        <p:spPr>
          <a:xfrm>
            <a:off x="457200" y="1720000"/>
            <a:ext cx="3606800" cy="4450000"/>
          </a:xfrm>
          <a:prstGeom prst="roundRect">
            <a:avLst>
              <a:gd name="adj" fmla="val 4000"/>
            </a:avLst>
          </a:prstGeom>
          <a:solidFill>
            <a:srgbClr val="E8F1FA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3" name="Icon circle 103"/>
          <p:cNvSpPr/>
          <p:nvPr/>
        </p:nvSpPr>
        <p:spPr>
          <a:xfrm>
            <a:off x="657200" y="1970000"/>
            <a:ext cx="660000" cy="660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pic>
        <p:nvPicPr>
          <p:cNvPr id="104" name="Icon sol" descr="sol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00" y="2128400"/>
            <a:ext cx="343200" cy="343200"/>
          </a:xfrm>
          <a:prstGeom prst="rect">
            <a:avLst/>
          </a:prstGeom>
        </p:spPr>
      </p:pic>
      <p:sp>
        <p:nvSpPr>
          <p:cNvPr id="105" name="Card title 105"/>
          <p:cNvSpPr txBox="1"/>
          <p:nvPr/>
        </p:nvSpPr>
        <p:spPr>
          <a:xfrm>
            <a:off x="1457200" y="1870000"/>
            <a:ext cx="24568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Arial"/>
                <a:cs typeface="Arial"/>
              </a:rPr>
              <a:t>Detailed explanation of the solution</a:t>
            </a:r>
          </a:p>
        </p:txBody>
      </p:sp>
      <p:sp>
        <p:nvSpPr>
          <p:cNvPr id="106" name="Card body 106"/>
          <p:cNvSpPr txBox="1"/>
          <p:nvPr/>
        </p:nvSpPr>
        <p:spPr>
          <a:xfrm>
            <a:off x="677200" y="2800000"/>
            <a:ext cx="3166800" cy="3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Central platform that ingests license-plate reads from a city-wide camera network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Two-stage reader: YOLOv9 finds plates, an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India-tuned</a:t>
            </a: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500" i="1" u="sng" dirty="0">
                <a:solidFill>
                  <a:srgbClr val="404040"/>
                </a:solidFill>
                <a:latin typeface="Arial"/>
                <a:cs typeface="Arial"/>
              </a:rPr>
              <a:t>CCT model reads them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Trajectory reconstruction, traffic analytics and real-time alerts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GIS control-room dashboard; MVP runs end to end today</a:t>
            </a:r>
          </a:p>
        </p:txBody>
      </p:sp>
      <p:sp>
        <p:nvSpPr>
          <p:cNvPr id="107" name="Card 107"/>
          <p:cNvSpPr/>
          <p:nvPr/>
        </p:nvSpPr>
        <p:spPr>
          <a:xfrm>
            <a:off x="4292600" y="1720000"/>
            <a:ext cx="3606800" cy="4450000"/>
          </a:xfrm>
          <a:prstGeom prst="roundRect">
            <a:avLst>
              <a:gd name="adj" fmla="val 4000"/>
            </a:avLst>
          </a:prstGeom>
          <a:solidFill>
            <a:srgbClr val="E8F1FA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8" name="Icon circle 108"/>
          <p:cNvSpPr/>
          <p:nvPr/>
        </p:nvSpPr>
        <p:spPr>
          <a:xfrm>
            <a:off x="4492600" y="1970000"/>
            <a:ext cx="660000" cy="660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pic>
        <p:nvPicPr>
          <p:cNvPr id="109" name="Icon prob" descr="prob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1000" y="2128400"/>
            <a:ext cx="343200" cy="343200"/>
          </a:xfrm>
          <a:prstGeom prst="rect">
            <a:avLst/>
          </a:prstGeom>
        </p:spPr>
      </p:pic>
      <p:sp>
        <p:nvSpPr>
          <p:cNvPr id="110" name="Card title 110"/>
          <p:cNvSpPr txBox="1"/>
          <p:nvPr/>
        </p:nvSpPr>
        <p:spPr>
          <a:xfrm>
            <a:off x="5292600" y="1870000"/>
            <a:ext cx="24568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Arial"/>
                <a:cs typeface="Arial"/>
              </a:rPr>
              <a:t>How it addresses the problem</a:t>
            </a:r>
          </a:p>
        </p:txBody>
      </p:sp>
      <p:sp>
        <p:nvSpPr>
          <p:cNvPr id="111" name="Card body 111"/>
          <p:cNvSpPr txBox="1"/>
          <p:nvPr/>
        </p:nvSpPr>
        <p:spPr>
          <a:xfrm>
            <a:off x="4512600" y="2800000"/>
            <a:ext cx="3166800" cy="3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Turns isolated camera reads into one searchable, city-wide vehicle history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Auto-flags watchlist, cloned-plate, convoy, loitering, geofence and wrong-way events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Congestion, bottleneck and origin–destination insights for planners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Alert workflow: acknowledge, dispatch, close, with evidence</a:t>
            </a:r>
          </a:p>
        </p:txBody>
      </p:sp>
      <p:sp>
        <p:nvSpPr>
          <p:cNvPr id="112" name="Card 112"/>
          <p:cNvSpPr/>
          <p:nvPr/>
        </p:nvSpPr>
        <p:spPr>
          <a:xfrm>
            <a:off x="8128000" y="1720000"/>
            <a:ext cx="3606800" cy="4450000"/>
          </a:xfrm>
          <a:prstGeom prst="roundRect">
            <a:avLst>
              <a:gd name="adj" fmla="val 4000"/>
            </a:avLst>
          </a:prstGeom>
          <a:solidFill>
            <a:srgbClr val="E8F1FA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3" name="Icon circle 113"/>
          <p:cNvSpPr/>
          <p:nvPr/>
        </p:nvSpPr>
        <p:spPr>
          <a:xfrm>
            <a:off x="8328000" y="1970000"/>
            <a:ext cx="660000" cy="660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pic>
        <p:nvPicPr>
          <p:cNvPr id="114" name="Icon inn" descr="inn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6400" y="2128400"/>
            <a:ext cx="343200" cy="343200"/>
          </a:xfrm>
          <a:prstGeom prst="rect">
            <a:avLst/>
          </a:prstGeom>
        </p:spPr>
      </p:pic>
      <p:sp>
        <p:nvSpPr>
          <p:cNvPr id="115" name="Card title 115"/>
          <p:cNvSpPr txBox="1"/>
          <p:nvPr/>
        </p:nvSpPr>
        <p:spPr>
          <a:xfrm>
            <a:off x="9128000" y="1870000"/>
            <a:ext cx="24568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Arial"/>
                <a:cs typeface="Arial"/>
              </a:rPr>
              <a:t>Innovation and uniqueness</a:t>
            </a:r>
          </a:p>
        </p:txBody>
      </p:sp>
      <p:sp>
        <p:nvSpPr>
          <p:cNvPr id="116" name="Card body 116"/>
          <p:cNvSpPr txBox="1"/>
          <p:nvPr/>
        </p:nvSpPr>
        <p:spPr>
          <a:xfrm>
            <a:off x="8348000" y="2800000"/>
            <a:ext cx="3166800" cy="3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OCR fine-tuned on Indian plates: 72.7% exact match vs 35.4% for a global model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Indian plate-format decoding picks the most probable valid plate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Privacy by design: role-based access, case IDs, audit log, k-anonymity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Edge-ready open-source stack on ONNX Runtime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01" name="Heading 101"/>
          <p:cNvSpPr txBox="1"/>
          <p:nvPr/>
        </p:nvSpPr>
        <p:spPr>
          <a:xfrm>
            <a:off x="457200" y="1180000"/>
            <a:ext cx="8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Arial"/>
                <a:cs typeface="Arial"/>
              </a:rPr>
              <a:t>Methodology and process flow</a:t>
            </a:r>
          </a:p>
        </p:txBody>
      </p:sp>
      <p:sp>
        <p:nvSpPr>
          <p:cNvPr id="102" name="Flow box 102"/>
          <p:cNvSpPr/>
          <p:nvPr/>
        </p:nvSpPr>
        <p:spPr>
          <a:xfrm>
            <a:off x="457200" y="1680000"/>
            <a:ext cx="1951520" cy="150000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>
            <a:noFill/>
          </a:ln>
        </p:spPr>
        <p:txBody>
          <a:bodyPr wrap="square" lIns="110000" tIns="90000" rIns="110000" bIns="6000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3864"/>
                </a:solidFill>
                <a:latin typeface="Arial"/>
                <a:cs typeface="Arial"/>
              </a:rPr>
              <a:t>1  Capture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cs typeface="Arial"/>
              </a:rPr>
              <a:t>Video frames from city wide camera networks </a:t>
            </a:r>
          </a:p>
        </p:txBody>
      </p:sp>
      <p:sp>
        <p:nvSpPr>
          <p:cNvPr id="103" name="Arrow 103"/>
          <p:cNvSpPr/>
          <p:nvPr/>
        </p:nvSpPr>
        <p:spPr>
          <a:xfrm>
            <a:off x="2453720" y="2290000"/>
            <a:ext cx="290000" cy="28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4" name="Flow box 104"/>
          <p:cNvSpPr/>
          <p:nvPr/>
        </p:nvSpPr>
        <p:spPr>
          <a:xfrm>
            <a:off x="2788720" y="1680000"/>
            <a:ext cx="1951520" cy="150000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>
            <a:noFill/>
          </a:ln>
        </p:spPr>
        <p:txBody>
          <a:bodyPr wrap="square" lIns="110000" tIns="90000" rIns="110000" bIns="6000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3864"/>
                </a:solidFill>
                <a:latin typeface="Arial"/>
                <a:cs typeface="Arial"/>
              </a:rPr>
              <a:t>2  Detect and read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cs typeface="Arial"/>
              </a:rPr>
              <a:t>YOLOv9 plate detector, crop, CCT OCR (india-v1), Indian format decoding</a:t>
            </a:r>
          </a:p>
        </p:txBody>
      </p:sp>
      <p:sp>
        <p:nvSpPr>
          <p:cNvPr id="105" name="Arrow 105"/>
          <p:cNvSpPr/>
          <p:nvPr/>
        </p:nvSpPr>
        <p:spPr>
          <a:xfrm>
            <a:off x="4785240" y="2290000"/>
            <a:ext cx="290000" cy="28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6" name="Flow box 106"/>
          <p:cNvSpPr/>
          <p:nvPr/>
        </p:nvSpPr>
        <p:spPr>
          <a:xfrm>
            <a:off x="5120240" y="1680000"/>
            <a:ext cx="1951520" cy="150000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>
            <a:noFill/>
          </a:ln>
        </p:spPr>
        <p:txBody>
          <a:bodyPr wrap="square" lIns="110000" tIns="90000" rIns="110000" bIns="6000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3864"/>
                </a:solidFill>
                <a:latin typeface="Arial"/>
                <a:cs typeface="Arial"/>
              </a:rPr>
              <a:t>3  Stream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cs typeface="Arial"/>
              </a:rPr>
              <a:t>Plate reads published to Redpanda topic anpr.reads.v1</a:t>
            </a:r>
          </a:p>
        </p:txBody>
      </p:sp>
      <p:sp>
        <p:nvSpPr>
          <p:cNvPr id="107" name="Arrow 107"/>
          <p:cNvSpPr/>
          <p:nvPr/>
        </p:nvSpPr>
        <p:spPr>
          <a:xfrm>
            <a:off x="7116760" y="2290000"/>
            <a:ext cx="290000" cy="28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8" name="Flow box 108"/>
          <p:cNvSpPr/>
          <p:nvPr/>
        </p:nvSpPr>
        <p:spPr>
          <a:xfrm>
            <a:off x="7451760" y="1680000"/>
            <a:ext cx="1951520" cy="150000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>
            <a:noFill/>
          </a:ln>
        </p:spPr>
        <p:txBody>
          <a:bodyPr wrap="square" lIns="110000" tIns="90000" rIns="110000" bIns="6000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3864"/>
                </a:solidFill>
                <a:latin typeface="Arial"/>
                <a:cs typeface="Arial"/>
              </a:rPr>
              <a:t>4  Process, store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cs typeface="Arial"/>
              </a:rPr>
              <a:t>Ingest, analytics, alerts workers write to ClickHouse, PostGIS, Redis, MinIO</a:t>
            </a:r>
          </a:p>
        </p:txBody>
      </p:sp>
      <p:sp>
        <p:nvSpPr>
          <p:cNvPr id="109" name="Arrow 109"/>
          <p:cNvSpPr/>
          <p:nvPr/>
        </p:nvSpPr>
        <p:spPr>
          <a:xfrm>
            <a:off x="9448280" y="2290000"/>
            <a:ext cx="290000" cy="28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0" name="Flow box 110"/>
          <p:cNvSpPr/>
          <p:nvPr/>
        </p:nvSpPr>
        <p:spPr>
          <a:xfrm>
            <a:off x="9783280" y="1680000"/>
            <a:ext cx="1951520" cy="150000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>
            <a:noFill/>
          </a:ln>
        </p:spPr>
        <p:txBody>
          <a:bodyPr wrap="square" lIns="110000" tIns="90000" rIns="110000" bIns="6000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3864"/>
                </a:solidFill>
                <a:latin typeface="Arial"/>
                <a:cs typeface="Arial"/>
              </a:rPr>
              <a:t>5  Serve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cs typeface="Arial"/>
              </a:rPr>
              <a:t>FastAPI and Next.js dashboard with live WebSocket</a:t>
            </a:r>
          </a:p>
        </p:txBody>
      </p:sp>
      <p:sp>
        <p:nvSpPr>
          <p:cNvPr id="111" name="Heading 111"/>
          <p:cNvSpPr txBox="1"/>
          <p:nvPr/>
        </p:nvSpPr>
        <p:spPr>
          <a:xfrm>
            <a:off x="457200" y="3350000"/>
            <a:ext cx="8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Arial"/>
                <a:cs typeface="Arial"/>
              </a:rPr>
              <a:t>Technologies to be used</a:t>
            </a:r>
          </a:p>
        </p:txBody>
      </p:sp>
      <p:sp>
        <p:nvSpPr>
          <p:cNvPr id="112" name="Tech card 112"/>
          <p:cNvSpPr/>
          <p:nvPr/>
        </p:nvSpPr>
        <p:spPr>
          <a:xfrm>
            <a:off x="457200" y="3830000"/>
            <a:ext cx="1951520" cy="23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9DC3E6"/>
            </a:solidFill>
          </a:ln>
        </p:spPr>
        <p:txBody>
          <a:bodyPr wrap="square" lIns="110000" tIns="90000" rIns="90000" bIns="6000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70C0"/>
                </a:solidFill>
                <a:latin typeface="Arial"/>
                <a:cs typeface="Arial"/>
              </a:rPr>
              <a:t>Vision / OCR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FastALPR on ONNX Runtime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YOLOv9-s-608 detector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CCT OCR, india-v1 (4.6 MB)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GPU with CPU fallback</a:t>
            </a:r>
          </a:p>
        </p:txBody>
      </p:sp>
      <p:sp>
        <p:nvSpPr>
          <p:cNvPr id="113" name="Tech card 113"/>
          <p:cNvSpPr/>
          <p:nvPr/>
        </p:nvSpPr>
        <p:spPr>
          <a:xfrm>
            <a:off x="2788720" y="3830000"/>
            <a:ext cx="1951520" cy="23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9DC3E6"/>
            </a:solidFill>
          </a:ln>
        </p:spPr>
        <p:txBody>
          <a:bodyPr wrap="square" lIns="110000" tIns="90000" rIns="90000" bIns="6000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70C0"/>
                </a:solidFill>
                <a:latin typeface="Arial"/>
                <a:cs typeface="Arial"/>
              </a:rPr>
              <a:t>Backend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Python 3.11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FastAPI, JWT and roles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uv, Docker Compose</a:t>
            </a:r>
          </a:p>
        </p:txBody>
      </p:sp>
      <p:sp>
        <p:nvSpPr>
          <p:cNvPr id="114" name="Tech card 114"/>
          <p:cNvSpPr/>
          <p:nvPr/>
        </p:nvSpPr>
        <p:spPr>
          <a:xfrm>
            <a:off x="5120240" y="3830000"/>
            <a:ext cx="1951520" cy="23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9DC3E6"/>
            </a:solidFill>
          </a:ln>
        </p:spPr>
        <p:txBody>
          <a:bodyPr wrap="square" lIns="110000" tIns="90000" rIns="90000" bIns="6000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70C0"/>
                </a:solidFill>
                <a:latin typeface="Arial"/>
                <a:cs typeface="Arial"/>
              </a:rPr>
              <a:t>Streaming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Redpanda (Kafka API)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Ingest, analytics and alerts workers</a:t>
            </a:r>
          </a:p>
        </p:txBody>
      </p:sp>
      <p:sp>
        <p:nvSpPr>
          <p:cNvPr id="115" name="Tech card 115"/>
          <p:cNvSpPr/>
          <p:nvPr/>
        </p:nvSpPr>
        <p:spPr>
          <a:xfrm>
            <a:off x="7451760" y="3830000"/>
            <a:ext cx="1951520" cy="23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9DC3E6"/>
            </a:solidFill>
          </a:ln>
        </p:spPr>
        <p:txBody>
          <a:bodyPr wrap="square" lIns="110000" tIns="90000" rIns="90000" bIns="6000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70C0"/>
                </a:solidFill>
                <a:latin typeface="Arial"/>
                <a:cs typeface="Arial"/>
              </a:rPr>
              <a:t>Data stores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ClickHouse: reads, analytics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PostGIS: alerts, zones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Redis: last seen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MinIO: evidence crops</a:t>
            </a:r>
          </a:p>
        </p:txBody>
      </p:sp>
      <p:sp>
        <p:nvSpPr>
          <p:cNvPr id="116" name="Tech card 116"/>
          <p:cNvSpPr/>
          <p:nvPr/>
        </p:nvSpPr>
        <p:spPr>
          <a:xfrm>
            <a:off x="9783280" y="3830000"/>
            <a:ext cx="1951520" cy="23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9DC3E6"/>
            </a:solidFill>
          </a:ln>
        </p:spPr>
        <p:txBody>
          <a:bodyPr wrap="square" lIns="110000" tIns="90000" rIns="90000" bIns="6000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70C0"/>
                </a:solidFill>
                <a:latin typeface="Arial"/>
                <a:cs typeface="Arial"/>
              </a:rPr>
              <a:t>Frontend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Next.js dashboard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GIS heatmap, live alerts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WebSocket live feed</a:t>
            </a: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3ED77322-639A-7C0E-913F-C74E9A6E554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90995" y="167833"/>
            <a:ext cx="169041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CrossSight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01" name="Heading 101"/>
          <p:cNvSpPr txBox="1"/>
          <p:nvPr/>
        </p:nvSpPr>
        <p:spPr>
          <a:xfrm>
            <a:off x="457200" y="1180000"/>
            <a:ext cx="395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Arial"/>
                <a:cs typeface="Arial"/>
              </a:rPr>
              <a:t>Feasibility</a:t>
            </a:r>
          </a:p>
        </p:txBody>
      </p:sp>
      <p:sp>
        <p:nvSpPr>
          <p:cNvPr id="102" name="Stat 102"/>
          <p:cNvSpPr/>
          <p:nvPr/>
        </p:nvSpPr>
        <p:spPr>
          <a:xfrm>
            <a:off x="457200" y="1700000"/>
            <a:ext cx="1900000" cy="11500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D9730D"/>
                </a:solidFill>
                <a:latin typeface="Arial"/>
                <a:cs typeface="Arial"/>
              </a:rPr>
              <a:t>72.7%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cs typeface="Arial"/>
              </a:rPr>
              <a:t>Indian plates read exactly</a:t>
            </a:r>
          </a:p>
        </p:txBody>
      </p:sp>
      <p:sp>
        <p:nvSpPr>
          <p:cNvPr id="103" name="Stat 103"/>
          <p:cNvSpPr/>
          <p:nvPr/>
        </p:nvSpPr>
        <p:spPr>
          <a:xfrm>
            <a:off x="2507200" y="1700000"/>
            <a:ext cx="1900000" cy="11500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D9730D"/>
                </a:solidFill>
                <a:latin typeface="Arial"/>
                <a:cs typeface="Arial"/>
              </a:rPr>
              <a:t>92.6%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cs typeface="Arial"/>
              </a:rPr>
              <a:t>characters correct</a:t>
            </a:r>
          </a:p>
        </p:txBody>
      </p:sp>
      <p:sp>
        <p:nvSpPr>
          <p:cNvPr id="104" name="Stat 104"/>
          <p:cNvSpPr/>
          <p:nvPr/>
        </p:nvSpPr>
        <p:spPr>
          <a:xfrm>
            <a:off x="457200" y="2980000"/>
            <a:ext cx="1900000" cy="11500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D9730D"/>
                </a:solidFill>
                <a:latin typeface="Arial"/>
                <a:cs typeface="Arial"/>
              </a:rPr>
              <a:t>8.5 ms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cs typeface="Arial"/>
              </a:rPr>
              <a:t>OCR time per plate (GPU)</a:t>
            </a:r>
          </a:p>
        </p:txBody>
      </p:sp>
      <p:sp>
        <p:nvSpPr>
          <p:cNvPr id="105" name="Stat 105"/>
          <p:cNvSpPr/>
          <p:nvPr/>
        </p:nvSpPr>
        <p:spPr>
          <a:xfrm>
            <a:off x="2507200" y="2980000"/>
            <a:ext cx="1900000" cy="11500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D9730D"/>
                </a:solidFill>
                <a:latin typeface="Arial"/>
                <a:cs typeface="Arial"/>
              </a:rPr>
              <a:t>~355 ms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cs typeface="Arial"/>
              </a:rPr>
              <a:t>per image, CPU only</a:t>
            </a:r>
          </a:p>
        </p:txBody>
      </p:sp>
      <p:sp>
        <p:nvSpPr>
          <p:cNvPr id="106" name="Feasibility notes 106"/>
          <p:cNvSpPr txBox="1"/>
          <p:nvPr/>
        </p:nvSpPr>
        <p:spPr>
          <a:xfrm>
            <a:off x="457200" y="4380000"/>
            <a:ext cx="39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India-tuned OCR: 35.4% with the global model, 72.7% after fine-tuning</a:t>
            </a:r>
          </a:p>
          <a:p>
            <a:pPr marL="228600" indent="-22860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Runs on GPU or CPU; GPU self-test falls back to CPU</a:t>
            </a:r>
          </a:p>
          <a:p>
            <a:pPr marL="228600" indent="-2286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Ingest, alerts, API and dashboard work end to end on simulated data</a:t>
            </a:r>
          </a:p>
        </p:txBody>
      </p:sp>
      <p:sp>
        <p:nvSpPr>
          <p:cNvPr id="107" name="Heading 107"/>
          <p:cNvSpPr txBox="1"/>
          <p:nvPr/>
        </p:nvSpPr>
        <p:spPr>
          <a:xfrm>
            <a:off x="4707200" y="1180000"/>
            <a:ext cx="70276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Arial"/>
                <a:cs typeface="Arial"/>
              </a:rPr>
              <a:t>Challenges and strategies to overcome them</a:t>
            </a:r>
          </a:p>
        </p:txBody>
      </p:sp>
      <p:graphicFrame>
        <p:nvGraphicFramePr>
          <p:cNvPr id="108" name="Table 108"/>
          <p:cNvGraphicFramePr>
            <a:graphicFrameLocks noGrp="1"/>
          </p:cNvGraphicFramePr>
          <p:nvPr/>
        </p:nvGraphicFramePr>
        <p:xfrm>
          <a:off x="4707200" y="1700000"/>
          <a:ext cx="7027600" cy="4400000"/>
        </p:xfrm>
        <a:graphic>
          <a:graphicData uri="http://schemas.openxmlformats.org/drawingml/2006/table">
            <a:tbl>
              <a:tblPr firstRow="1"/>
              <a:tblGrid>
                <a:gridCol w="2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Potential challenge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D4E8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Strategy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D4E8"/>
                      </a:solidFill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Arial"/>
                          <a:cs typeface="Arial"/>
                        </a:rPr>
                        <a:t>Look-alike characters (O/0, 8/B, 6/G, 1/I) still cause misreads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4E8"/>
                      </a:solidFill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Indian format decoding, more fine-tuning on own-camera crops with fast-plate-ocr, multi-frame voting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4E8"/>
                      </a:solidFill>
                    </a:lnB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Arial"/>
                          <a:cs typeface="Arial"/>
                        </a:rPr>
                        <a:t>Blur, night and weather degrade reads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4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CLAHE and a quality gate are in place; plug a deblur / super-resolution model into the Enhancer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4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Arial"/>
                          <a:cs typeface="Arial"/>
                        </a:rPr>
                        <a:t>India model is India-only and forgets many foreign plates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4E8"/>
                      </a:solidFill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Use the global model for other regions; select the model per deployment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4E8"/>
                      </a:solidFill>
                    </a:lnB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Arial"/>
                          <a:cs typeface="Arial"/>
                        </a:rPr>
                        <a:t>City-wide scale, Vahan registry check is stubbed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4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Flink or Rust consumers, sharded ClickHouse, edge OCR; implement RegistryClient.lookup(plate)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4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Arial"/>
                          <a:cs typeface="Arial"/>
                        </a:rPr>
                        <a:t>Plates are personal data; demo logins only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4E8"/>
                      </a:solidFill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Production auth; case IDs, audit log, RBAC, 30-day retention and k-anonymity enforce accountability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4E8"/>
                      </a:solidFill>
                    </a:lnB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82CA42D4-9B89-D734-3A9C-AE3F9CEFFCD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90995" y="167833"/>
            <a:ext cx="169041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CrossSight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01" name="Heading 101"/>
          <p:cNvSpPr txBox="1"/>
          <p:nvPr/>
        </p:nvSpPr>
        <p:spPr>
          <a:xfrm>
            <a:off x="457200" y="1180000"/>
            <a:ext cx="54888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Arial"/>
                <a:cs typeface="Arial"/>
              </a:rPr>
              <a:t>Impact on the target audience</a:t>
            </a:r>
          </a:p>
        </p:txBody>
      </p:sp>
      <p:sp>
        <p:nvSpPr>
          <p:cNvPr id="102" name="Heading 102"/>
          <p:cNvSpPr txBox="1"/>
          <p:nvPr/>
        </p:nvSpPr>
        <p:spPr>
          <a:xfrm>
            <a:off x="6246000" y="1180000"/>
            <a:ext cx="54888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Arial"/>
                <a:cs typeface="Arial"/>
              </a:rPr>
              <a:t>Benefits of the solution</a:t>
            </a:r>
          </a:p>
        </p:txBody>
      </p:sp>
      <p:sp>
        <p:nvSpPr>
          <p:cNvPr id="103" name="Row 103"/>
          <p:cNvSpPr/>
          <p:nvPr/>
        </p:nvSpPr>
        <p:spPr>
          <a:xfrm>
            <a:off x="457200" y="1720000"/>
            <a:ext cx="5488800" cy="12900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4" name="Icon circle 104"/>
          <p:cNvSpPr/>
          <p:nvPr/>
        </p:nvSpPr>
        <p:spPr>
          <a:xfrm>
            <a:off x="687200" y="2035000"/>
            <a:ext cx="660000" cy="660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pic>
        <p:nvPicPr>
          <p:cNvPr id="105" name="Icon ops" descr="op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600" y="2193400"/>
            <a:ext cx="343200" cy="343200"/>
          </a:xfrm>
          <a:prstGeom prst="rect">
            <a:avLst/>
          </a:prstGeom>
        </p:spPr>
      </p:pic>
      <p:sp>
        <p:nvSpPr>
          <p:cNvPr id="106" name="Row text 106"/>
          <p:cNvSpPr txBox="1"/>
          <p:nvPr/>
        </p:nvSpPr>
        <p:spPr>
          <a:xfrm>
            <a:off x="1537200" y="1780000"/>
            <a:ext cx="4238800" cy="1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Arial"/>
                <a:cs typeface="Arial"/>
              </a:rPr>
              <a:t>Control-room operators and police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One live GIS view with real-time alerts, evidence and an acknowledge, dispatch, close workflow</a:t>
            </a:r>
          </a:p>
        </p:txBody>
      </p:sp>
      <p:sp>
        <p:nvSpPr>
          <p:cNvPr id="107" name="Row 107"/>
          <p:cNvSpPr/>
          <p:nvPr/>
        </p:nvSpPr>
        <p:spPr>
          <a:xfrm>
            <a:off x="457200" y="3150000"/>
            <a:ext cx="5488800" cy="12900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8" name="Icon circle 108"/>
          <p:cNvSpPr/>
          <p:nvPr/>
        </p:nvSpPr>
        <p:spPr>
          <a:xfrm>
            <a:off x="687200" y="3465000"/>
            <a:ext cx="660000" cy="660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pic>
        <p:nvPicPr>
          <p:cNvPr id="109" name="Icon inv" descr="inv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600" y="3623400"/>
            <a:ext cx="343200" cy="343200"/>
          </a:xfrm>
          <a:prstGeom prst="rect">
            <a:avLst/>
          </a:prstGeom>
        </p:spPr>
      </p:pic>
      <p:sp>
        <p:nvSpPr>
          <p:cNvPr id="110" name="Row text 110"/>
          <p:cNvSpPr txBox="1"/>
          <p:nvPr/>
        </p:nvSpPr>
        <p:spPr>
          <a:xfrm>
            <a:off x="1537200" y="3210000"/>
            <a:ext cx="4238800" cy="1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Arial"/>
                <a:cs typeface="Arial"/>
              </a:rPr>
              <a:t>Investigators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Trajectory search across all cameras; impossible-hop flags expose cloned plates</a:t>
            </a:r>
          </a:p>
        </p:txBody>
      </p:sp>
      <p:sp>
        <p:nvSpPr>
          <p:cNvPr id="111" name="Row 111"/>
          <p:cNvSpPr/>
          <p:nvPr/>
        </p:nvSpPr>
        <p:spPr>
          <a:xfrm>
            <a:off x="457200" y="4580000"/>
            <a:ext cx="5488800" cy="12900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2" name="Icon circle 112"/>
          <p:cNvSpPr/>
          <p:nvPr/>
        </p:nvSpPr>
        <p:spPr>
          <a:xfrm>
            <a:off x="687200" y="4895000"/>
            <a:ext cx="660000" cy="660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pic>
        <p:nvPicPr>
          <p:cNvPr id="113" name="Icon plan" descr="plan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600" y="5053400"/>
            <a:ext cx="343200" cy="343200"/>
          </a:xfrm>
          <a:prstGeom prst="rect">
            <a:avLst/>
          </a:prstGeom>
        </p:spPr>
      </p:pic>
      <p:sp>
        <p:nvSpPr>
          <p:cNvPr id="114" name="Row text 114"/>
          <p:cNvSpPr txBox="1"/>
          <p:nvPr/>
        </p:nvSpPr>
        <p:spPr>
          <a:xfrm>
            <a:off x="1537200" y="4640000"/>
            <a:ext cx="4238800" cy="1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Arial"/>
                <a:cs typeface="Arial"/>
              </a:rPr>
              <a:t>City planners and analysts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Flow, speed, congestion, bottleneck and origin–destination insights without plate-level access</a:t>
            </a:r>
          </a:p>
        </p:txBody>
      </p:sp>
      <p:sp>
        <p:nvSpPr>
          <p:cNvPr id="115" name="Row 115"/>
          <p:cNvSpPr/>
          <p:nvPr/>
        </p:nvSpPr>
        <p:spPr>
          <a:xfrm>
            <a:off x="6246000" y="1720000"/>
            <a:ext cx="5488800" cy="12900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6" name="Icon circle 116"/>
          <p:cNvSpPr/>
          <p:nvPr/>
        </p:nvSpPr>
        <p:spPr>
          <a:xfrm>
            <a:off x="6476000" y="2035000"/>
            <a:ext cx="660000" cy="6600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pic>
        <p:nvPicPr>
          <p:cNvPr id="117" name="Icon soc" descr="soc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4400" y="2193400"/>
            <a:ext cx="343200" cy="343200"/>
          </a:xfrm>
          <a:prstGeom prst="rect">
            <a:avLst/>
          </a:prstGeom>
        </p:spPr>
      </p:pic>
      <p:sp>
        <p:nvSpPr>
          <p:cNvPr id="118" name="Row text 118"/>
          <p:cNvSpPr txBox="1"/>
          <p:nvPr/>
        </p:nvSpPr>
        <p:spPr>
          <a:xfrm>
            <a:off x="7326000" y="1780000"/>
            <a:ext cx="4238800" cy="1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Arial"/>
                <a:cs typeface="Arial"/>
              </a:rPr>
              <a:t>Social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Faster response to watchlisted, cloned and wrong-way vehicles; privacy safeguards protect citizens</a:t>
            </a:r>
          </a:p>
        </p:txBody>
      </p:sp>
      <p:sp>
        <p:nvSpPr>
          <p:cNvPr id="119" name="Row 119"/>
          <p:cNvSpPr/>
          <p:nvPr/>
        </p:nvSpPr>
        <p:spPr>
          <a:xfrm>
            <a:off x="6246000" y="3150000"/>
            <a:ext cx="5488800" cy="12900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20" name="Icon circle 120"/>
          <p:cNvSpPr/>
          <p:nvPr/>
        </p:nvSpPr>
        <p:spPr>
          <a:xfrm>
            <a:off x="6476000" y="3465000"/>
            <a:ext cx="660000" cy="6600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pic>
        <p:nvPicPr>
          <p:cNvPr id="121" name="Icon eco" descr="eco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4400" y="3623400"/>
            <a:ext cx="343200" cy="343200"/>
          </a:xfrm>
          <a:prstGeom prst="rect">
            <a:avLst/>
          </a:prstGeom>
        </p:spPr>
      </p:pic>
      <p:sp>
        <p:nvSpPr>
          <p:cNvPr id="122" name="Row text 122"/>
          <p:cNvSpPr txBox="1"/>
          <p:nvPr/>
        </p:nvSpPr>
        <p:spPr>
          <a:xfrm>
            <a:off x="7326000" y="3210000"/>
            <a:ext cx="4238800" cy="1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Arial"/>
                <a:cs typeface="Arial"/>
              </a:rPr>
              <a:t>Economic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Reuses existing cameras on an open-source stack; data-driven planning targets spend where congestion is worst</a:t>
            </a:r>
          </a:p>
        </p:txBody>
      </p:sp>
      <p:sp>
        <p:nvSpPr>
          <p:cNvPr id="123" name="Row 123"/>
          <p:cNvSpPr/>
          <p:nvPr/>
        </p:nvSpPr>
        <p:spPr>
          <a:xfrm>
            <a:off x="6246000" y="4580000"/>
            <a:ext cx="5488800" cy="12900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24" name="Icon circle 124"/>
          <p:cNvSpPr/>
          <p:nvPr/>
        </p:nvSpPr>
        <p:spPr>
          <a:xfrm>
            <a:off x="6476000" y="4895000"/>
            <a:ext cx="660000" cy="6600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pic>
        <p:nvPicPr>
          <p:cNvPr id="125" name="Icon env" descr="env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4400" y="5053400"/>
            <a:ext cx="343200" cy="343200"/>
          </a:xfrm>
          <a:prstGeom prst="rect">
            <a:avLst/>
          </a:prstGeom>
        </p:spPr>
      </p:pic>
      <p:sp>
        <p:nvSpPr>
          <p:cNvPr id="126" name="Row text 126"/>
          <p:cNvSpPr txBox="1"/>
          <p:nvPr/>
        </p:nvSpPr>
        <p:spPr>
          <a:xfrm>
            <a:off x="7326000" y="4640000"/>
            <a:ext cx="4238800" cy="1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Arial"/>
                <a:cs typeface="Arial"/>
              </a:rPr>
              <a:t>Environmental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Finding bottlenecks and </a:t>
            </a:r>
            <a:r>
              <a:rPr lang="en-US" sz="1300" b="1" dirty="0">
                <a:solidFill>
                  <a:srgbClr val="404040"/>
                </a:solidFill>
                <a:latin typeface="Arial"/>
                <a:cs typeface="Arial"/>
              </a:rPr>
              <a:t>congestion</a:t>
            </a: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 hot spots helps cut idling time, fuel use and emissions</a:t>
            </a: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37D7E5F1-33B3-9373-F158-03DB9EC7D7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90995" y="167833"/>
            <a:ext cx="169041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CrossSight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01" name="Heading 101"/>
          <p:cNvSpPr txBox="1"/>
          <p:nvPr/>
        </p:nvSpPr>
        <p:spPr>
          <a:xfrm>
            <a:off x="457200" y="1180000"/>
            <a:ext cx="55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Arial"/>
                <a:cs typeface="Arial"/>
              </a:rPr>
              <a:t>Research and evaluation approach</a:t>
            </a:r>
          </a:p>
        </p:txBody>
      </p:sp>
      <p:sp>
        <p:nvSpPr>
          <p:cNvPr id="102" name="Heading 102"/>
          <p:cNvSpPr txBox="1"/>
          <p:nvPr/>
        </p:nvSpPr>
        <p:spPr>
          <a:xfrm>
            <a:off x="6257200" y="1180000"/>
            <a:ext cx="54776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Arial"/>
                <a:cs typeface="Arial"/>
              </a:rPr>
              <a:t>Reference links</a:t>
            </a:r>
          </a:p>
        </p:txBody>
      </p:sp>
      <p:sp>
        <p:nvSpPr>
          <p:cNvPr id="103" name="Research card 103"/>
          <p:cNvSpPr/>
          <p:nvPr/>
        </p:nvSpPr>
        <p:spPr>
          <a:xfrm>
            <a:off x="457200" y="1720000"/>
            <a:ext cx="5500000" cy="4430000"/>
          </a:xfrm>
          <a:prstGeom prst="roundRect">
            <a:avLst>
              <a:gd name="adj" fmla="val 3000"/>
            </a:avLst>
          </a:prstGeom>
          <a:solidFill>
            <a:srgbClr val="E8F1FA"/>
          </a:solidFill>
          <a:ln>
            <a:noFill/>
          </a:ln>
        </p:spPr>
        <p:txBody>
          <a:bodyPr wrap="square" lIns="200000" tIns="180000" rIns="200000" bIns="10000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600" dirty="0">
                <a:solidFill>
                  <a:srgbClr val="404040"/>
                </a:solidFill>
                <a:latin typeface="Arial"/>
                <a:cs typeface="Arial"/>
              </a:rPr>
              <a:t>Benchmarked on OpenALPR (444 photos, EU, Brazil, US): plate found 100%, read exactly 90.8%, ~22 ms median on GPU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600" b="1" dirty="0">
                <a:solidFill>
                  <a:srgbClr val="404040"/>
                </a:solidFill>
                <a:latin typeface="Arial"/>
                <a:cs typeface="Arial"/>
              </a:rPr>
              <a:t>Global model reads only 35.4% of Indian plates; India-tuned model with format decoding reaches 72.7% exact, 92.6% of characters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600" dirty="0">
                <a:solidFill>
                  <a:srgbClr val="404040"/>
                </a:solidFill>
                <a:latin typeface="Arial"/>
                <a:cs typeface="Arial"/>
              </a:rPr>
              <a:t>Remaining errors are look-alike characters, not plate detection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600" dirty="0">
                <a:solidFill>
                  <a:srgbClr val="404040"/>
                </a:solidFill>
                <a:latin typeface="Arial"/>
                <a:cs typeface="Arial"/>
              </a:rPr>
              <a:t>Privacy: plates are personal data, so access, case IDs, audit log and retention are controlled</a:t>
            </a:r>
          </a:p>
        </p:txBody>
      </p:sp>
      <p:sp>
        <p:nvSpPr>
          <p:cNvPr id="104" name="Links card 104"/>
          <p:cNvSpPr/>
          <p:nvPr/>
        </p:nvSpPr>
        <p:spPr>
          <a:xfrm>
            <a:off x="6257200" y="1720000"/>
            <a:ext cx="5477600" cy="443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9DC3E6"/>
            </a:solidFill>
          </a:ln>
        </p:spPr>
        <p:txBody>
          <a:bodyPr wrap="square" lIns="200000" tIns="180000" rIns="200000" bIns="10000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Arial"/>
                <a:cs typeface="Arial"/>
              </a:rPr>
              <a:t>PlateOCR: detect and read pipeline</a:t>
            </a:r>
          </a:p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400" u="sng" dirty="0">
                <a:latin typeface="Arial"/>
                <a:cs typeface="Arial"/>
                <a:hlinkClick r:id="rId4"/>
              </a:rPr>
              <a:t>github.com/Ajitesh-07/PlateOCR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Arial"/>
                <a:cs typeface="Arial"/>
              </a:rPr>
              <a:t>PlateOCR research and benchmark notes</a:t>
            </a:r>
          </a:p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400" u="sng" dirty="0">
                <a:latin typeface="Arial"/>
                <a:cs typeface="Arial"/>
                <a:hlinkClick r:id="rId5"/>
              </a:rPr>
              <a:t>PlateOCR / RESEARCH.md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Arial"/>
                <a:cs typeface="Arial"/>
              </a:rPr>
              <a:t>FastALPR (detector + OCR framework)</a:t>
            </a:r>
          </a:p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400" u="sng" dirty="0">
                <a:latin typeface="Arial"/>
                <a:cs typeface="Arial"/>
                <a:hlinkClick r:id="rId6"/>
              </a:rPr>
              <a:t>github.com/ankandrew/fast-alpr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Arial"/>
                <a:cs typeface="Arial"/>
              </a:rPr>
              <a:t>fast-plate-ocr (fine-tuning CCT models)</a:t>
            </a:r>
          </a:p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400" u="sng" dirty="0">
                <a:latin typeface="Arial"/>
                <a:cs typeface="Arial"/>
                <a:hlinkClick r:id="rId7"/>
              </a:rPr>
              <a:t>github.com/ankandrew/fast-plate-ocr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Arial"/>
                <a:cs typeface="Arial"/>
              </a:rPr>
              <a:t>OpenALPR end-to-end benchmark</a:t>
            </a:r>
          </a:p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400" u="sng" dirty="0">
                <a:latin typeface="Arial"/>
                <a:cs typeface="Arial"/>
                <a:hlinkClick r:id="rId8"/>
              </a:rPr>
              <a:t>github.com/openalpr/benchmarks</a:t>
            </a: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C4FB564A-5998-FE27-CB02-C63623AFBD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90995" y="167833"/>
            <a:ext cx="169041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CrossSight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7606</TotalTime>
  <Words>877</Words>
  <Application>Microsoft Macintosh PowerPoint</Application>
  <PresentationFormat>Widescreen</PresentationFormat>
  <Paragraphs>139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CrossSight – City-wide ANPR Intelligence Platform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Pranjal Kukreja</cp:lastModifiedBy>
  <cp:revision>149</cp:revision>
  <dcterms:created xsi:type="dcterms:W3CDTF">2013-12-12T18:46:50Z</dcterms:created>
  <dcterms:modified xsi:type="dcterms:W3CDTF">2026-09-30T09:07:50Z</dcterms:modified>
  <cp:category/>
</cp:coreProperties>
</file>